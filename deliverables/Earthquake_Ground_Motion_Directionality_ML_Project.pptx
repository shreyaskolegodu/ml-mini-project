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9" dt="2026-10-11T18:24:31.042"/>
    <p1510:client id="{6B9FDCE4-C30C-044F-E87B-E2B553163CC6}" v="483" dt="2026-10-11T18:07:55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33425" y="566928"/>
            <a:ext cx="11165313" cy="137974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" y="914400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UE24CS352A  /  MACHINE LEARNING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32588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7F9FB"/>
                </a:solidFill>
                <a:latin typeface="Aptos Display"/>
              </a:rPr>
              <a:t>Detecting &amp; Predicting Earthquake</a:t>
            </a:r>
            <a:br>
              <a:rPr sz="3400" b="1" i="0">
                <a:solidFill>
                  <a:srgbClr val="F7F9FB"/>
                </a:solidFill>
                <a:latin typeface="Aptos Display"/>
              </a:rPr>
            </a:br>
            <a:r>
              <a:rPr sz="3400" b="1" i="0">
                <a:solidFill>
                  <a:srgbClr val="F7F9FB"/>
                </a:solidFill>
                <a:latin typeface="Aptos Display"/>
              </a:rPr>
              <a:t>Ground Motion Directionality Patterns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35101" y="2743200"/>
            <a:ext cx="7772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EBFCD"/>
                </a:solidFill>
                <a:latin typeface="Aptos"/>
              </a:rPr>
              <a:t>Using machine learning to model how shaking orientation changes between nearby sites.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102" y="3703320"/>
            <a:ext cx="5190440" cy="14044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101" y="566318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7F9FB"/>
                </a:solidFill>
                <a:latin typeface="Aptos"/>
              </a:rPr>
              <a:t>Reference study  /  Alan Poulos &amp; Rodrigo Silva-Lopez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101" y="5925079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EBFCD"/>
                </a:solidFill>
                <a:latin typeface="Aptos"/>
              </a:rPr>
              <a:t>John A. Blume Earthquake Engineering Center  •  Stanford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810" y="6181344"/>
            <a:ext cx="10972800" cy="118418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9985C6-B8DC-3E92-6F50-7ADA7CFDB501}"/>
              </a:ext>
            </a:extLst>
          </p:cNvPr>
          <p:cNvSpPr txBox="1"/>
          <p:nvPr/>
        </p:nvSpPr>
        <p:spPr>
          <a:xfrm>
            <a:off x="630936" y="4114800"/>
            <a:ext cx="59436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00" b="1" i="0">
                <a:solidFill>
                  <a:srgbClr val="69D0DE"/>
                </a:solidFill>
                <a:latin typeface="Aptos"/>
              </a:rPr>
              <a:t>TEAM DETAILS</a:t>
            </a:r>
          </a:p>
          <a:p>
            <a:pPr algn="l">
              <a:spcAft>
                <a:spcPts val="400"/>
              </a:spcAft>
            </a:pPr>
            <a:r>
              <a:rPr lang="en-US" sz="1500" b="0" i="0">
                <a:solidFill>
                  <a:srgbClr val="F7F9FB"/>
                </a:solidFill>
                <a:latin typeface="Aptos"/>
              </a:rPr>
              <a:t>Shreyas K M – PES1UG24AM402</a:t>
            </a:r>
          </a:p>
          <a:p>
            <a:pPr algn="l">
              <a:spcAft>
                <a:spcPts val="400"/>
              </a:spcAft>
            </a:pPr>
            <a:r>
              <a:rPr lang="en-US" sz="1500" b="0" i="0">
                <a:solidFill>
                  <a:srgbClr val="F7F9FB"/>
                </a:solidFill>
                <a:latin typeface="Aptos"/>
              </a:rPr>
              <a:t>Dhruvanth U – PES1UG24AM362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01 / ENGINEERING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The assumption misses spatial coherence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Ground-motion orientation influences how infrastructure experiences earthquake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627632"/>
            <a:ext cx="11018520" cy="10371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3456432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901952"/>
            <a:ext cx="50292" cy="1874519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CODE 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68880"/>
            <a:ext cx="3090672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EBFCD"/>
                </a:solidFill>
                <a:latin typeface="Aptos"/>
              </a:rPr>
              <a:t>Orientations across stations are often treated as uniformly and independently distributed.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901952"/>
            <a:ext cx="3456432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2544" y="1901952"/>
            <a:ext cx="50292" cy="1874519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057400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OBSERVED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468880"/>
            <a:ext cx="3090672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EBFCD"/>
                </a:solidFill>
                <a:latin typeface="Aptos"/>
              </a:rPr>
              <a:t>For shallow crustal events, nearby stations can exhibit correlated orientations.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56432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901952"/>
            <a:ext cx="50292" cy="1874519"/>
          </a:xfrm>
          <a:prstGeom prst="rect">
            <a:avLst/>
          </a:prstGeom>
          <a:solidFill>
            <a:srgbClr val="ED6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2057400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ENGINEERING CONSEQUENCE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468880"/>
            <a:ext cx="3090672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EBFCD"/>
                </a:solidFill>
                <a:latin typeface="Aptos"/>
              </a:rPr>
              <a:t>Independent sampling can understate simultaneous shaking risk for distributed assets.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1480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9D0DE"/>
                </a:solidFill>
                <a:latin typeface="Aptos"/>
              </a:rPr>
              <a:t>Project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98848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7F9FB"/>
                </a:solidFill>
                <a:latin typeface="Aptos Display"/>
              </a:rPr>
              <a:t>Estimate the acute angular difference  Δθ ∈ [0°, 90°]  between two sites recording the same earthquake.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RotD100: the orientation associated with maximum horizontal spectral acceleration.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02 /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From earthquake records to paired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A pairwise dataset makes spatial dependence measurable.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1032" y="1627632"/>
            <a:ext cx="10995255" cy="92076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450592" cy="132588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50292" cy="1325880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PEER NGA-West2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208483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Ground-motion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1" y="2395728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9D0D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965960"/>
            <a:ext cx="2450592" cy="132588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11296" y="1965960"/>
            <a:ext cx="50292" cy="132588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121408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Engineering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532888"/>
            <a:ext cx="208483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Shallow crustal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Mw ≥ 5.0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95728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9D0D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965960"/>
            <a:ext cx="2450592" cy="132588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64224" y="1965960"/>
            <a:ext cx="50292" cy="1325880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2121408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Pair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532888"/>
            <a:ext cx="208483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Same event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d ≤ 5 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2395728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9D0D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965960"/>
            <a:ext cx="2450592" cy="132588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17152" y="1965960"/>
            <a:ext cx="50292" cy="1325880"/>
          </a:xfrm>
          <a:prstGeom prst="rect">
            <a:avLst/>
          </a:prstGeom>
          <a:solidFill>
            <a:srgbClr val="5BC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00032" y="2121408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Learning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532888"/>
            <a:ext cx="208483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5,300 site pairs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22191"/>
            <a:ext cx="2450592" cy="10241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986784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7F9FB"/>
                </a:solidFill>
                <a:latin typeface="Aptos Display"/>
              </a:rPr>
              <a:t>5,300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425696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EBFCD"/>
                </a:solidFill>
                <a:latin typeface="Aptos"/>
              </a:rPr>
              <a:t>pairwise instances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1296" y="3822191"/>
            <a:ext cx="2450592" cy="10241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21024" y="3986784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7F9FB"/>
                </a:solidFill>
                <a:latin typeface="Aptos Display"/>
              </a:rPr>
              <a:t>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4425696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EBFCD"/>
                </a:solidFill>
                <a:latin typeface="Aptos"/>
              </a:rPr>
              <a:t>initial attributes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4224" y="3822191"/>
            <a:ext cx="2450592" cy="10241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986784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7F9FB"/>
                </a:solidFill>
                <a:latin typeface="Aptos Display"/>
              </a:rPr>
              <a:t>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425696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EBFCD"/>
                </a:solidFill>
                <a:latin typeface="Aptos"/>
              </a:rPr>
              <a:t>selected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7152" y="3822191"/>
            <a:ext cx="2450592" cy="10241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3986784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7F9FB"/>
                </a:solidFill>
                <a:latin typeface="Aptos Display"/>
              </a:rPr>
              <a:t>80 / 10 /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425696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EBFCD"/>
                </a:solidFill>
                <a:latin typeface="Aptos"/>
              </a:rPr>
              <a:t>train / val /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257800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69D0DE"/>
                </a:solidFill>
                <a:latin typeface="Aptos"/>
              </a:rPr>
              <a:t>Target: Δθ = min(|θᵢ − θⱼ|, 180° − |θᵢ − θⱼ|)</a:t>
            </a:r>
          </a:p>
        </p:txBody>
      </p:sp>
      <p:sp>
        <p:nvSpPr>
          <p:cNvPr id="201" name="Data note"/>
          <p:cNvSpPr txBox="1"/>
          <p:nvPr/>
        </p:nvSpPr>
        <p:spPr>
          <a:xfrm>
            <a:off x="713232" y="5760720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AEBFCD"/>
                </a:solidFill>
                <a:latin typeface="Aptos"/>
              </a:rPr>
              <a:t>Data note: the 5,300-pair NGA-West2 set is produced by src/data_generator.py, calibrated to the reference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03 /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Reduce 71 attributes to a focused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Stepwise backward–forward selection with Ridge regression.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1032" y="1627632"/>
            <a:ext cx="11001071" cy="132794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3246120" cy="205740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38528"/>
            <a:ext cx="50292" cy="2057400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93976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>
                <a:solidFill>
                  <a:srgbClr val="F7F9FB"/>
                </a:solidFill>
                <a:latin typeface="Aptos"/>
              </a:rPr>
              <a:t>1) BACKWARD RANKING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2505456"/>
            <a:ext cx="2880360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Remove one feature at a time and measure the validation R² drop. Larger drops imply greater contribution.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938528"/>
            <a:ext cx="3246120" cy="205740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53128" y="1938528"/>
            <a:ext cx="50292" cy="205740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093976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F7F9FB"/>
                </a:solidFill>
                <a:latin typeface="Aptos"/>
              </a:rPr>
              <a:t>2) FORWARD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505456"/>
            <a:ext cx="2880360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Add features in ranked order until validation performance peaks.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938528"/>
            <a:ext cx="3246120" cy="205740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47888" y="1938528"/>
            <a:ext cx="50292" cy="2057400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7" y="2093976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F7F9FB"/>
                </a:solidFill>
                <a:latin typeface="Aptos"/>
              </a:rPr>
              <a:t>3) FINAL SUBSET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2505456"/>
            <a:ext cx="2880360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Retain 21 predictive attributes while limiting redundancy and collinearity.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46227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9D0DE"/>
                </a:solidFill>
                <a:latin typeface="Aptos"/>
              </a:rPr>
              <a:t>Dominant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9FB"/>
                </a:solidFill>
                <a:latin typeface="Aptos"/>
              </a:rPr>
              <a:t>Inter-site distance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9FB"/>
                </a:solidFill>
                <a:latin typeface="Aptos"/>
              </a:rPr>
              <a:t>Average PGA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46320"/>
            <a:ext cx="338328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Other selected variables include hypocenter depth, rupture dimensions and fault geometry.</a:t>
            </a:r>
          </a:p>
        </p:txBody>
      </p:sp>
      <p:sp>
        <p:nvSpPr>
          <p:cNvPr id="202" name="Driver note"/>
          <p:cNvSpPr txBox="1"/>
          <p:nvPr/>
        </p:nvSpPr>
        <p:spPr>
          <a:xfrm>
            <a:off x="3154680" y="484632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Δθ rises as sites move farther apart</a:t>
            </a:r>
          </a:p>
        </p:txBody>
      </p:sp>
      <p:sp>
        <p:nvSpPr>
          <p:cNvPr id="203" name="Driver note"/>
          <p:cNvSpPr txBox="1"/>
          <p:nvPr/>
        </p:nvSpPr>
        <p:spPr>
          <a:xfrm>
            <a:off x="3154680" y="534924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Higher PGA (&gt; 0.15g) lowers Δθ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04 /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Two physical variables reveal clear mean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Raw observations are highly scattered; moving averages expose the conditional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849" y="1499662"/>
            <a:ext cx="11065054" cy="126977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fig02_delta_theta_vs_distance.png"/>
          <p:cNvPicPr>
            <a:picLocks noChangeAspect="1"/>
          </p:cNvPicPr>
          <p:nvPr/>
        </p:nvPicPr>
        <p:blipFill>
          <a:blip r:embed="rId2"/>
          <a:srcRect l="-347" t="-572" r="-827" b="-1324"/>
          <a:stretch>
            <a:fillRect/>
          </a:stretch>
        </p:blipFill>
        <p:spPr>
          <a:xfrm>
            <a:off x="582490" y="1563061"/>
            <a:ext cx="5472037" cy="4136628"/>
          </a:xfrm>
          <a:prstGeom prst="rect">
            <a:avLst/>
          </a:prstGeom>
        </p:spPr>
      </p:pic>
      <p:pic>
        <p:nvPicPr>
          <p:cNvPr id="8" name="Picture 7" descr="fig03_delta_theta_vs_pga.png"/>
          <p:cNvPicPr>
            <a:picLocks noChangeAspect="1"/>
          </p:cNvPicPr>
          <p:nvPr/>
        </p:nvPicPr>
        <p:blipFill>
          <a:blip r:embed="rId3"/>
          <a:srcRect l="-970" t="-480" r="-409" b="-1145"/>
          <a:stretch>
            <a:fillRect/>
          </a:stretch>
        </p:blipFill>
        <p:spPr>
          <a:xfrm>
            <a:off x="6147356" y="1559917"/>
            <a:ext cx="5469345" cy="41119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646" y="5806770"/>
            <a:ext cx="5074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dirty="0">
                <a:solidFill>
                  <a:srgbClr val="69D0DE"/>
                </a:solidFill>
                <a:latin typeface="Aptos"/>
              </a:rPr>
              <a:t>FIGURE 2  /  Δθ generally rises with site separation.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9162" y="5806770"/>
            <a:ext cx="5074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dirty="0">
                <a:solidFill>
                  <a:srgbClr val="69D0DE"/>
                </a:solidFill>
                <a:latin typeface="Aptos"/>
              </a:rPr>
              <a:t>FIGURE 3  /  Δθ tends to fall as average PGA increases.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05 / MODELING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Compare a simple baseline with three ML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All multivariate models use the same 21 selected features.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627632"/>
            <a:ext cx="11018520" cy="92077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6537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6537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6537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LEARNING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86537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67712"/>
            <a:ext cx="10927080" cy="603504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2057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F7F9FB"/>
                </a:solidFill>
                <a:latin typeface="Aptos"/>
              </a:rPr>
              <a:t>Benchmark 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Distance d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Univariate linear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4231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Reference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67712"/>
            <a:ext cx="41148" cy="603504"/>
          </a:xfrm>
          <a:prstGeom prst="rect">
            <a:avLst/>
          </a:prstGeom>
          <a:solidFill>
            <a:srgbClr val="45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3017520"/>
            <a:ext cx="10927080" cy="603504"/>
          </a:xfrm>
          <a:prstGeom prst="roundRect">
            <a:avLst>
              <a:gd name="adj" fmla="val 12000"/>
            </a:avLst>
          </a:prstGeom>
          <a:solidFill>
            <a:srgbClr val="11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7434" y="3172968"/>
            <a:ext cx="2057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F7F9FB"/>
                </a:solidFill>
                <a:latin typeface="Aptos"/>
              </a:rPr>
              <a:t>Ridge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1729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21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7296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Linear model + L₂ penalty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1729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Regularized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17520"/>
            <a:ext cx="41148" cy="603504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3767328"/>
            <a:ext cx="10927080" cy="603504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922776"/>
            <a:ext cx="2057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F7F9FB"/>
                </a:solidFill>
                <a:latin typeface="Aptos"/>
              </a:rPr>
              <a:t>Deep Neural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92277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21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92277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MLP • ReLU • Adam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92277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Nonlinear learner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67328"/>
            <a:ext cx="41148" cy="603504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4517136"/>
            <a:ext cx="10927080" cy="603504"/>
          </a:xfrm>
          <a:prstGeom prst="roundRect">
            <a:avLst>
              <a:gd name="adj" fmla="val 12000"/>
            </a:avLst>
          </a:prstGeom>
          <a:solidFill>
            <a:srgbClr val="11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7433" y="4672583"/>
            <a:ext cx="2057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>
                <a:solidFill>
                  <a:srgbClr val="F7F9FB"/>
                </a:solidFill>
                <a:latin typeface="Aptos"/>
              </a:rPr>
              <a:t>Gradient Boosting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672583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21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672583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Boosted decision trees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672583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Tree-based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17136"/>
            <a:ext cx="41148" cy="603504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5468112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Ridge α = 1.5  •  MLP: ReLU + Adam, L₂ weight decay  •  Hyperparameters tuned on validation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06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A linear model matches complex models on 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Held-out test set of 530 site pairs. Boosted trees overfit: train R² 0.751 vs. test 0.325.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2080" y="1627632"/>
            <a:ext cx="11011656" cy="119431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350582"/>
              </p:ext>
            </p:extLst>
          </p:nvPr>
        </p:nvGraphicFramePr>
        <p:xfrm>
          <a:off x="640080" y="1883664"/>
          <a:ext cx="10698480" cy="2651760"/>
        </p:xfrm>
        <a:graphic>
          <a:graphicData uri="http://schemas.openxmlformats.org/drawingml/2006/table">
            <a:tbl>
              <a:tblPr firstRow="1"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D1D30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27BE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D1D30"/>
                          </a:solidFill>
                          <a:latin typeface="Aptos"/>
                        </a:rPr>
                        <a:t>Inputs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27BE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D1D30"/>
                          </a:solidFill>
                          <a:latin typeface="Aptos"/>
                        </a:rPr>
                        <a:t>Train R²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27BE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D1D30"/>
                          </a:solidFill>
                          <a:latin typeface="Aptos"/>
                        </a:rPr>
                        <a:t>Test R²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27BE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D1D30"/>
                          </a:solidFill>
                          <a:latin typeface="Aptos"/>
                        </a:rPr>
                        <a:t>Test MAE (°)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27BE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D1D30"/>
                          </a:solidFill>
                          <a:latin typeface="Aptos"/>
                        </a:rPr>
                        <a:t>Test RMSE (°)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27B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Benchmark OLS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Distance d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0.038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0.051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16.43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19.95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7F9FB"/>
                          </a:solidFill>
                          <a:latin typeface="Aptos"/>
                        </a:rPr>
                        <a:t>Ridge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E4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7F9FB"/>
                          </a:solidFill>
                          <a:latin typeface="Aptos"/>
                        </a:rPr>
                        <a:t>21 features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E4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7F9FB"/>
                          </a:solidFill>
                          <a:latin typeface="Aptos"/>
                        </a:rPr>
                        <a:t>0.349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E4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7F9FB"/>
                          </a:solidFill>
                          <a:latin typeface="Aptos"/>
                        </a:rPr>
                        <a:t>0.350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E4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7F9FB"/>
                          </a:solidFill>
                          <a:latin typeface="Aptos"/>
                        </a:rPr>
                        <a:t>13.35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E4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7F9FB"/>
                          </a:solidFill>
                          <a:latin typeface="Aptos"/>
                        </a:rPr>
                        <a:t>16.52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E4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MLP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21 features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0.381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0.328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13.56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16.79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Boosted trees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21 features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39438"/>
                          </a:solidFill>
                          <a:latin typeface="Aptos"/>
                        </a:rPr>
                        <a:t>0.751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0.325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13.71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F7F9FB"/>
                          </a:solidFill>
                          <a:latin typeface="Aptos"/>
                        </a:rPr>
                        <a:t>16.83</a:t>
                      </a:r>
                    </a:p>
                  </a:txBody>
                  <a:tcPr marL="109728" marR="36576" marT="54864" marB="54864" anchor="ctr">
                    <a:lnL w="12700">
                      <a:solidFill>
                        <a:srgbClr val="0D1D30"/>
                      </a:solidFill>
                    </a:lnL>
                    <a:lnR w="12700">
                      <a:solidFill>
                        <a:srgbClr val="0D1D30"/>
                      </a:solidFill>
                    </a:lnR>
                    <a:lnT w="12700">
                      <a:solidFill>
                        <a:srgbClr val="0D1D30"/>
                      </a:solidFill>
                    </a:lnT>
                    <a:lnB w="12700">
                      <a:solidFill>
                        <a:srgbClr val="0D1D30"/>
                      </a:solidFill>
                    </a:lnB>
                    <a:solidFill>
                      <a:srgbClr val="1A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4937760"/>
            <a:ext cx="3383280" cy="54864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4937760"/>
            <a:ext cx="50292" cy="54864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6577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9FB"/>
                </a:solidFill>
                <a:latin typeface="Aptos"/>
              </a:rPr>
              <a:t>R²: 0.051 → 0.350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301752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FCD"/>
                </a:solidFill>
                <a:latin typeface="Aptos"/>
              </a:rPr>
              <a:t>Ridge vs distance-only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4937760"/>
            <a:ext cx="3383280" cy="54864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4937760"/>
            <a:ext cx="50292" cy="548640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506577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9FB"/>
                </a:solidFill>
                <a:latin typeface="Aptos"/>
              </a:rPr>
              <a:t>MAE: 16.43° → 13.35°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596128"/>
            <a:ext cx="301752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FCD"/>
                </a:solidFill>
                <a:latin typeface="Aptos"/>
              </a:rPr>
              <a:t>3.08° lower error than baseline</a:t>
            </a:r>
          </a:p>
        </p:txBody>
      </p:sp>
      <p:sp>
        <p:nvSpPr>
          <p:cNvPr id="204" name="Callout 3"/>
          <p:cNvSpPr/>
          <p:nvPr/>
        </p:nvSpPr>
        <p:spPr>
          <a:xfrm>
            <a:off x="8028432" y="4937760"/>
            <a:ext cx="3383280" cy="548640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Callout 3"/>
          <p:cNvSpPr/>
          <p:nvPr/>
        </p:nvSpPr>
        <p:spPr>
          <a:xfrm>
            <a:off x="8028432" y="4937760"/>
            <a:ext cx="50292" cy="548640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Callout 3"/>
          <p:cNvSpPr txBox="1"/>
          <p:nvPr/>
        </p:nvSpPr>
        <p:spPr>
          <a:xfrm>
            <a:off x="8229600" y="506577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9FB"/>
                </a:solidFill>
                <a:latin typeface="Aptos"/>
              </a:rPr>
              <a:t>Trees R²: 0.751 → 0.325</a:t>
            </a:r>
          </a:p>
        </p:txBody>
      </p:sp>
      <p:sp>
        <p:nvSpPr>
          <p:cNvPr id="207" name="Callout 3"/>
          <p:cNvSpPr txBox="1"/>
          <p:nvPr/>
        </p:nvSpPr>
        <p:spPr>
          <a:xfrm>
            <a:off x="8229600" y="5596128"/>
            <a:ext cx="301752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FCD"/>
                </a:solidFill>
                <a:latin typeface="Aptos"/>
              </a:rPr>
              <a:t>Train → test: clear overfitting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07 / MODEL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Predictions recover the average physical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Windowed averages compare empirical Δθ with the Ridge model across feature bins.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2080" y="1538389"/>
            <a:ext cx="10977332" cy="140026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fig06_ridge_regression_windowed_dist.png"/>
          <p:cNvPicPr>
            <a:picLocks noChangeAspect="1"/>
          </p:cNvPicPr>
          <p:nvPr/>
        </p:nvPicPr>
        <p:blipFill>
          <a:blip r:embed="rId2"/>
          <a:srcRect l="-127" t="366" r="-589" b="2727"/>
          <a:stretch>
            <a:fillRect/>
          </a:stretch>
        </p:blipFill>
        <p:spPr>
          <a:xfrm>
            <a:off x="608070" y="1764810"/>
            <a:ext cx="5454158" cy="3687121"/>
          </a:xfrm>
          <a:prstGeom prst="rect">
            <a:avLst/>
          </a:prstGeom>
        </p:spPr>
      </p:pic>
      <p:pic>
        <p:nvPicPr>
          <p:cNvPr id="8" name="Picture 7" descr="fig07_ridge_regression_windowed_pga.png"/>
          <p:cNvPicPr>
            <a:picLocks noChangeAspect="1"/>
          </p:cNvPicPr>
          <p:nvPr/>
        </p:nvPicPr>
        <p:blipFill>
          <a:blip r:embed="rId3"/>
          <a:srcRect t="1126" r="-237" b="1657"/>
          <a:stretch>
            <a:fillRect/>
          </a:stretch>
        </p:blipFill>
        <p:spPr>
          <a:xfrm>
            <a:off x="6199632" y="1759188"/>
            <a:ext cx="5407772" cy="36713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376" y="5662607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FIGURE 6  /  Moving averages over distance.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3918" y="5662607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9D0DE"/>
                </a:solidFill>
                <a:latin typeface="Aptos"/>
              </a:rPr>
              <a:t>FIGURE 7  /  Moving averages over PGA.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08 / ARCHITECTURE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A compact MLP was selected through grid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Validation R² across hidden-layer depth and neuron 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2080" y="1668821"/>
            <a:ext cx="10991062" cy="85107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fig08_nn_gridsearch_heatmap.png"/>
          <p:cNvPicPr>
            <a:picLocks noChangeAspect="1"/>
          </p:cNvPicPr>
          <p:nvPr/>
        </p:nvPicPr>
        <p:blipFill>
          <a:blip r:embed="rId2"/>
          <a:srcRect l="-1218" t="58" r="122" b="-331"/>
          <a:stretch>
            <a:fillRect/>
          </a:stretch>
        </p:blipFill>
        <p:spPr>
          <a:xfrm>
            <a:off x="596598" y="1865513"/>
            <a:ext cx="5685217" cy="41641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20840" y="1938528"/>
            <a:ext cx="4617720" cy="10241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938528"/>
            <a:ext cx="50292" cy="1024128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2093976"/>
            <a:ext cx="42519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SEARCH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505456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1–5 hidden layers  •  50–300 neurons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218688"/>
            <a:ext cx="4617720" cy="10241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20840" y="3218688"/>
            <a:ext cx="50292" cy="1024128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3374136"/>
            <a:ext cx="42519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785615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ReLU activations  •  Adam  •  L₂ weight decay α = 0.1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498848"/>
            <a:ext cx="4617720" cy="10241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20840" y="4498848"/>
            <a:ext cx="50292" cy="1024128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4654296"/>
            <a:ext cx="42519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TEST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065776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Test R² = 0.328  •  MAE = 13.56°</a:t>
            </a:r>
          </a:p>
        </p:txBody>
      </p:sp>
      <p:sp>
        <p:nvSpPr>
          <p:cNvPr id="208" name="Takeaway note"/>
          <p:cNvSpPr txBox="1"/>
          <p:nvPr/>
        </p:nvSpPr>
        <p:spPr>
          <a:xfrm>
            <a:off x="6720840" y="562356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9D0DE"/>
                </a:solidFill>
                <a:latin typeface="Aptos"/>
              </a:rPr>
              <a:t>Every configuration lands within about 0.02 R², so the ceiling comes from the data, not the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09 /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Why does test R² plateau near 0.35?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The remaining error is not necessarily a failure of the learning algorithm.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5376" y="1505712"/>
            <a:ext cx="10998200" cy="107899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38528"/>
            <a:ext cx="50292" cy="1874519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93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OBSERVABLE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05456"/>
            <a:ext cx="3063240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Magnitude, geometry, site properties, PGA and inter-site separation describe only part of the wavefield.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38528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38528"/>
            <a:ext cx="50292" cy="1874519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93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UNOBSERVED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3063240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3D subsurface heterogeneity, velocity variations and micro-topography introduce irreducible variability.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38528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938528"/>
            <a:ext cx="50292" cy="1874519"/>
          </a:xfrm>
          <a:prstGeom prst="rect">
            <a:avLst/>
          </a:prstGeom>
          <a:solidFill>
            <a:srgbClr val="A78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093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MODEL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05456"/>
            <a:ext cx="3063240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A single point estimate cannot explain every pair, even when the conditional mean is learned well.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9768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7F9FB"/>
                </a:solidFill>
                <a:latin typeface="Aptos Display"/>
              </a:rPr>
              <a:t>The practical signal is the conditional mean:  E[Δθ | x]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965192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FCD"/>
                </a:solidFill>
                <a:latin typeface="Aptos"/>
              </a:rPr>
              <a:t>High aleatoric uncertainty limits pointwise R², while the moving-average curves show that the model reconstructs the expected trend across distance and PGA.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10 / IMPLEMENTATION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From raw data to live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A modular Python pipeline with a single command-line entry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5376" y="1505712"/>
            <a:ext cx="10998200" cy="107899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38528"/>
            <a:ext cx="50292" cy="1874519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93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05456"/>
            <a:ext cx="3063240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Generate data, preprocess and split, then select the 21 features with backward–forward Ridge ranking.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38528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38528"/>
            <a:ext cx="50292" cy="1874519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93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TRAIN &amp; 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3063240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Grid-search tuning and saved models, then publication figures 2–12 and the metrics 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38528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938528"/>
            <a:ext cx="50292" cy="1874519"/>
          </a:xfrm>
          <a:prstGeom prst="rect">
            <a:avLst/>
          </a:prstGeom>
          <a:solidFill>
            <a:srgbClr val="A78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093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05456"/>
            <a:ext cx="3063240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FCD"/>
                </a:solidFill>
                <a:latin typeface="Aptos"/>
              </a:rPr>
              <a:t>Interactive inference of Δθ for near-field, mid-range and far-field site pairs.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9768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7F9FB"/>
                </a:solidFill>
                <a:latin typeface="Aptos Display"/>
              </a:rPr>
              <a:t>python main.py  --pipeline  •  --train  •  --evaluate  •  --predict  •  --demo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965192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FCD"/>
                </a:solidFill>
                <a:latin typeface="Aptos"/>
              </a:rPr>
              <a:t>Deliverables: two-page academic write-up (PDF) and this slide deck. Pure Python 3, cross-platform.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BEB1"/>
                </a:solidFill>
                <a:latin typeface="Aptos"/>
              </a:rPr>
              <a:t>11 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7F9FB"/>
                </a:solidFill>
                <a:latin typeface="Aptos Display"/>
              </a:rPr>
              <a:t>Learning directionality adds value to hazard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FCD"/>
                </a:solidFill>
                <a:latin typeface="Aptos"/>
              </a:rPr>
              <a:t>A compact summary of what the experiments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896" y="1627632"/>
            <a:ext cx="11069320" cy="107899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429000" cy="19385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0292" cy="1938528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01  / 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3063240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FCD"/>
                </a:solidFill>
                <a:latin typeface="Aptos"/>
              </a:rPr>
              <a:t>Distance and average PGA are the leading drivers of orientation correlation.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19385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50292" cy="1938528"/>
          </a:xfrm>
          <a:prstGeom prst="rect">
            <a:avLst/>
          </a:prstGeom>
          <a:solidFill>
            <a:srgbClr val="6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7568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02  / 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3063240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FCD"/>
                </a:solidFill>
                <a:latin typeface="Aptos"/>
              </a:rPr>
              <a:t>Ridge matches or slightly beats the MLP and boosted trees, so a simple model suffices.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20240"/>
            <a:ext cx="3429000" cy="1938528"/>
          </a:xfrm>
          <a:prstGeom prst="roundRect">
            <a:avLst>
              <a:gd name="adj" fmla="val 12000"/>
            </a:avLst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920240"/>
            <a:ext cx="50292" cy="1938528"/>
          </a:xfrm>
          <a:prstGeom prst="rect">
            <a:avLst/>
          </a:prstGeom>
          <a:solidFill>
            <a:srgbClr val="F39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07568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F9FB"/>
                </a:solidFill>
                <a:latin typeface="Aptos"/>
              </a:rPr>
              <a:t>03  / 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3063240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FCD"/>
                </a:solidFill>
                <a:latin typeface="Aptos"/>
              </a:rPr>
              <a:t>Models capture mean trends despite high uncertainty in individual site-pair outcomes.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159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9D0DE"/>
                </a:solidFill>
                <a:latin typeface="Aptos"/>
              </a:rPr>
              <a:t>Next research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681728"/>
            <a:ext cx="10515600" cy="11155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7F9FB"/>
                </a:solidFill>
                <a:latin typeface="Aptos"/>
              </a:defRPr>
            </a:pPr>
            <a:r>
              <a:rPr sz="1400" b="1">
                <a:solidFill>
                  <a:srgbClr val="27BEB1"/>
                </a:solidFill>
                <a:latin typeface="Aptos"/>
              </a:rPr>
              <a:t>• </a:t>
            </a:r>
            <a:r>
              <a:rPr sz="1400">
                <a:solidFill>
                  <a:srgbClr val="F7F9FB"/>
                </a:solidFill>
                <a:latin typeface="Aptos"/>
              </a:rPr>
              <a:t>Probabilistic / heteroscedastic models to estimate both conditional mean and variance.</a:t>
            </a:r>
          </a:p>
          <a:p>
            <a:pPr>
              <a:spcAft>
                <a:spcPts val="700"/>
              </a:spcAft>
              <a:defRPr sz="1400">
                <a:solidFill>
                  <a:srgbClr val="F7F9FB"/>
                </a:solidFill>
                <a:latin typeface="Aptos"/>
              </a:defRPr>
            </a:pPr>
            <a:r>
              <a:rPr sz="1400" b="1">
                <a:solidFill>
                  <a:srgbClr val="27BEB1"/>
                </a:solidFill>
                <a:latin typeface="Aptos"/>
              </a:rPr>
              <a:t>• </a:t>
            </a:r>
            <a:r>
              <a:rPr sz="1400">
                <a:solidFill>
                  <a:srgbClr val="F7F9FB"/>
                </a:solidFill>
                <a:latin typeface="Aptos"/>
              </a:rPr>
              <a:t>Extend pairwise estimates toward joint spatial simulation for multi-site infrastructure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00" b="1">
                <a:solidFill>
                  <a:srgbClr val="27BEB1"/>
                </a:solidFill>
                <a:latin typeface="Aptos"/>
              </a:rPr>
              <a:t>12 / REFERENCES</a:t>
            </a:r>
            <a:endParaRPr lang="en-US" sz="1000" b="1" dirty="0">
              <a:solidFill>
                <a:srgbClr val="27BEB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56768"/>
            <a:ext cx="110642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700" b="1">
                <a:solidFill>
                  <a:srgbClr val="F7F9FB"/>
                </a:solidFill>
                <a:latin typeface="Aptos Display"/>
              </a:rPr>
              <a:t>References </a:t>
            </a:r>
            <a:endParaRPr sz="2700" b="1" i="0">
              <a:solidFill>
                <a:srgbClr val="F7F9FB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4736" y="1627632"/>
            <a:ext cx="11069320" cy="107899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FCD"/>
                </a:solidFill>
                <a:latin typeface="Aptos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768" y="1999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9D0DE"/>
                </a:solidFill>
                <a:latin typeface="Aptos"/>
              </a:rPr>
              <a:t>Reference &amp; project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056" y="2331720"/>
            <a:ext cx="10698480" cy="1828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7F9FB"/>
                </a:solidFill>
                <a:latin typeface="Aptos"/>
              </a:defRPr>
            </a:pPr>
            <a:r>
              <a:rPr sz="1400" b="1">
                <a:solidFill>
                  <a:srgbClr val="27BEB1"/>
                </a:solidFill>
                <a:latin typeface="Aptos"/>
              </a:rPr>
              <a:t>• </a:t>
            </a:r>
            <a:r>
              <a:rPr sz="1400">
                <a:solidFill>
                  <a:srgbClr val="F7F9FB"/>
                </a:solidFill>
                <a:latin typeface="Aptos"/>
              </a:rPr>
              <a:t>Poulos, A. &amp; Silva-Lopez, R. “Detecting and predicting earthquake ground motion directionality patterns using machine learning tools.” John A. Blume Earthquake Engineering Center, Stanford University.</a:t>
            </a:r>
          </a:p>
          <a:p>
            <a:pPr>
              <a:spcAft>
                <a:spcPts val="500"/>
              </a:spcAft>
              <a:defRPr sz="1200">
                <a:solidFill>
                  <a:srgbClr val="F7F9FB"/>
                </a:solidFill>
                <a:latin typeface="Aptos"/>
              </a:defRPr>
            </a:pPr>
            <a:r>
              <a:rPr sz="1400" b="1">
                <a:solidFill>
                  <a:srgbClr val="27BEB1"/>
                </a:solidFill>
                <a:latin typeface="Aptos"/>
              </a:rPr>
              <a:t>• </a:t>
            </a:r>
            <a:r>
              <a:rPr sz="1400">
                <a:solidFill>
                  <a:srgbClr val="F7F9FB"/>
                </a:solidFill>
                <a:latin typeface="Aptos"/>
              </a:rPr>
              <a:t>PEER NGA-West2 ground-motion database, Pacific Earthquake Engineering Research Center.</a:t>
            </a:r>
          </a:p>
          <a:p>
            <a:pPr>
              <a:spcAft>
                <a:spcPts val="500"/>
              </a:spcAft>
              <a:defRPr sz="1200">
                <a:solidFill>
                  <a:srgbClr val="F7F9FB"/>
                </a:solidFill>
                <a:latin typeface="Aptos"/>
              </a:defRPr>
            </a:pPr>
            <a:r>
              <a:rPr sz="1400" b="1">
                <a:solidFill>
                  <a:srgbClr val="27BEB1"/>
                </a:solidFill>
                <a:latin typeface="Aptos"/>
              </a:rPr>
              <a:t>• </a:t>
            </a:r>
            <a:r>
              <a:rPr sz="1400">
                <a:solidFill>
                  <a:srgbClr val="F7F9FB"/>
                </a:solidFill>
                <a:latin typeface="Aptos"/>
              </a:rPr>
              <a:t>UE24CS352A Machine Learning Mini-Project: write-up, codebase and supplied figures.</a:t>
            </a:r>
          </a:p>
        </p:txBody>
      </p:sp>
      <p:sp>
        <p:nvSpPr>
          <p:cNvPr id="209" name="Thanks"/>
          <p:cNvSpPr txBox="1"/>
          <p:nvPr/>
        </p:nvSpPr>
        <p:spPr>
          <a:xfrm>
            <a:off x="4783328" y="4927600"/>
            <a:ext cx="26314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7F9FB"/>
                </a:solidFill>
                <a:latin typeface="Aptos"/>
              </a:rPr>
              <a:t>Thank you</a:t>
            </a:r>
            <a:r>
              <a:rPr sz="3200" b="1" i="0">
                <a:solidFill>
                  <a:srgbClr val="F7F9FB"/>
                </a:solidFill>
                <a:latin typeface="Aptos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 Ground Motion Directionality — Machine Learning Mini-Project</dc:title>
  <dc:subject>UE24CS352A Machine Learning Mini-Project</dc:subject>
  <dc:creator>PES University</dc:creator>
  <cp:keywords>earthquake, ground motion, directionality, machine learning, Ridge regression</cp:keywords>
  <dc:description>generated using python-pptx</dc:description>
  <cp:lastModifiedBy>Steve Canny</cp:lastModifiedBy>
  <cp:revision>156</cp:revision>
  <dcterms:created xsi:type="dcterms:W3CDTF">2013-01-27T09:14:16Z</dcterms:created>
  <dcterms:modified xsi:type="dcterms:W3CDTF">2026-10-11T18:28:12Z</dcterms:modified>
  <cp:category/>
</cp:coreProperties>
</file>